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TB</c:v>
                </c:pt>
              </c:strCache>
            </c:strRef>
          </c:tx>
          <c:spPr>
            <a:solidFill>
              <a:srgbClr val="0E9488"/>
            </a:solidFill>
            <a:ln w="38100" cap="flat">
              <a:solidFill>
                <a:srgbClr val="0E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9488"/>
              </a:solidFill>
              <a:ln w="9525" cap="flat">
                <a:solidFill>
                  <a:srgbClr val="0E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19</c:v>
                </c:pt>
                <c:pt idx="2">
                  <c:v>28</c:v>
                </c:pt>
                <c:pt idx="3">
                  <c:v>41</c:v>
                </c:pt>
                <c:pt idx="4">
                  <c:v>58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Upload</c:v>
                </c:pt>
              </c:strCache>
            </c:strRef>
          </c:tx>
          <c:spPr>
            <a:solidFill>
              <a:srgbClr val="0F22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55</c:v>
                </c:pt>
                <c:pt idx="2">
                  <c:v>48</c:v>
                </c:pt>
                <c:pt idx="3">
                  <c:v>62</c:v>
                </c:pt>
                <c:pt idx="4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Download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72</c:v>
                </c:pt>
                <c:pt idx="2">
                  <c:v>65</c:v>
                </c:pt>
                <c:pt idx="3">
                  <c:v>80</c:v>
                </c:pt>
                <c:pt idx="4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6" Type="http://schemas.openxmlformats.org/officeDocument/2006/relationships/chart" Target="/ppt/charts/chart2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10369296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" name="Shape 2"/>
          <p:cNvSpPr/>
          <p:nvPr/>
        </p:nvSpPr>
        <p:spPr>
          <a:xfrm>
            <a:off x="10680192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5" name="Shape 3"/>
          <p:cNvSpPr/>
          <p:nvPr/>
        </p:nvSpPr>
        <p:spPr>
          <a:xfrm>
            <a:off x="10991088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6" name="Shape 4"/>
          <p:cNvSpPr/>
          <p:nvPr/>
        </p:nvSpPr>
        <p:spPr>
          <a:xfrm>
            <a:off x="11301984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0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9" name="Shape 7"/>
          <p:cNvSpPr/>
          <p:nvPr/>
        </p:nvSpPr>
        <p:spPr>
          <a:xfrm>
            <a:off x="10369296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0" name="Shape 8"/>
          <p:cNvSpPr/>
          <p:nvPr/>
        </p:nvSpPr>
        <p:spPr>
          <a:xfrm>
            <a:off x="10680192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1" name="Shape 9"/>
          <p:cNvSpPr/>
          <p:nvPr/>
        </p:nvSpPr>
        <p:spPr>
          <a:xfrm>
            <a:off x="10991088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01984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12880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0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69296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80192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91088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1984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12880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0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69296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80192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91088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01984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12880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0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69296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80192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91088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01984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12880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58400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369296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80192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91088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6" name="Shape 34"/>
          <p:cNvSpPr/>
          <p:nvPr/>
        </p:nvSpPr>
        <p:spPr>
          <a:xfrm>
            <a:off x="11301984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7" name="Shape 35"/>
          <p:cNvSpPr/>
          <p:nvPr/>
        </p:nvSpPr>
        <p:spPr>
          <a:xfrm>
            <a:off x="11612880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557784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9" name="Shape 37"/>
          <p:cNvSpPr/>
          <p:nvPr/>
        </p:nvSpPr>
        <p:spPr>
          <a:xfrm>
            <a:off x="813816" y="557784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0" name="Shape 38"/>
          <p:cNvSpPr/>
          <p:nvPr/>
        </p:nvSpPr>
        <p:spPr>
          <a:xfrm>
            <a:off x="1124712" y="557784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1" name="Shape 39"/>
          <p:cNvSpPr/>
          <p:nvPr/>
        </p:nvSpPr>
        <p:spPr>
          <a:xfrm>
            <a:off x="1435608" y="557784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2" name="Shape 40"/>
          <p:cNvSpPr/>
          <p:nvPr/>
        </p:nvSpPr>
        <p:spPr>
          <a:xfrm>
            <a:off x="1746504" y="557784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3" name="Shape 41"/>
          <p:cNvSpPr/>
          <p:nvPr/>
        </p:nvSpPr>
        <p:spPr>
          <a:xfrm>
            <a:off x="2057400" y="557784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4" name="Shape 42"/>
          <p:cNvSpPr/>
          <p:nvPr/>
        </p:nvSpPr>
        <p:spPr>
          <a:xfrm>
            <a:off x="2368296" y="557784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5" name="Shape 43"/>
          <p:cNvSpPr/>
          <p:nvPr/>
        </p:nvSpPr>
        <p:spPr>
          <a:xfrm>
            <a:off x="2679192" y="557784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6" name="Shape 44"/>
          <p:cNvSpPr/>
          <p:nvPr/>
        </p:nvSpPr>
        <p:spPr>
          <a:xfrm>
            <a:off x="502920" y="588873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7" name="Shape 45"/>
          <p:cNvSpPr/>
          <p:nvPr/>
        </p:nvSpPr>
        <p:spPr>
          <a:xfrm>
            <a:off x="813816" y="588873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8" name="Shape 46"/>
          <p:cNvSpPr/>
          <p:nvPr/>
        </p:nvSpPr>
        <p:spPr>
          <a:xfrm>
            <a:off x="1124712" y="588873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9" name="Shape 47"/>
          <p:cNvSpPr/>
          <p:nvPr/>
        </p:nvSpPr>
        <p:spPr>
          <a:xfrm>
            <a:off x="1435608" y="588873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50" name="Shape 48"/>
          <p:cNvSpPr/>
          <p:nvPr/>
        </p:nvSpPr>
        <p:spPr>
          <a:xfrm>
            <a:off x="1746504" y="588873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51" name="Shape 49"/>
          <p:cNvSpPr/>
          <p:nvPr/>
        </p:nvSpPr>
        <p:spPr>
          <a:xfrm>
            <a:off x="2057400" y="588873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52" name="Shape 50"/>
          <p:cNvSpPr/>
          <p:nvPr/>
        </p:nvSpPr>
        <p:spPr>
          <a:xfrm>
            <a:off x="2368296" y="588873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53" name="Shape 51"/>
          <p:cNvSpPr/>
          <p:nvPr/>
        </p:nvSpPr>
        <p:spPr>
          <a:xfrm>
            <a:off x="2679192" y="588873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54" name="Text 52"/>
          <p:cNvSpPr/>
          <p:nvPr/>
        </p:nvSpPr>
        <p:spPr>
          <a:xfrm>
            <a:off x="777240" y="1325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AMITY UNIVERSITY  ·  ACTION PLAN &amp; ROADMAP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31520" y="178308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Enterprise File Storage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Modernization</a:t>
            </a:r>
            <a:endParaRPr lang="en-US" sz="5400" dirty="0"/>
          </a:p>
        </p:txBody>
      </p:sp>
      <p:sp>
        <p:nvSpPr>
          <p:cNvPr id="56" name="Text 54"/>
          <p:cNvSpPr/>
          <p:nvPr/>
        </p:nvSpPr>
        <p:spPr>
          <a:xfrm>
            <a:off x="77724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Digital Asset Management Platform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777240" y="4709160"/>
            <a:ext cx="2112264" cy="566928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/>
        </p:spPr>
      </p:sp>
      <p:pic>
        <p:nvPicPr>
          <p:cNvPr id="5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846320"/>
            <a:ext cx="292608" cy="292608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1307592" y="4709160"/>
            <a:ext cx="1563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1300" dirty="0"/>
          </a:p>
        </p:txBody>
      </p:sp>
      <p:sp>
        <p:nvSpPr>
          <p:cNvPr id="60" name="Shape 57"/>
          <p:cNvSpPr/>
          <p:nvPr/>
        </p:nvSpPr>
        <p:spPr>
          <a:xfrm>
            <a:off x="3118104" y="4709160"/>
            <a:ext cx="1728216" cy="566928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/>
        </p:spPr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4846320"/>
            <a:ext cx="292608" cy="292608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3648456" y="4709160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300" dirty="0"/>
          </a:p>
        </p:txBody>
      </p:sp>
      <p:sp>
        <p:nvSpPr>
          <p:cNvPr id="63" name="Shape 59"/>
          <p:cNvSpPr/>
          <p:nvPr/>
        </p:nvSpPr>
        <p:spPr>
          <a:xfrm>
            <a:off x="5074920" y="4709160"/>
            <a:ext cx="2496312" cy="566928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/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846320"/>
            <a:ext cx="292608" cy="292608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5605272" y="470916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INITIATIVE?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digital footprint that has outgrown its storage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1288" y="2121408"/>
            <a:ext cx="768096" cy="768096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28600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9923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88920" y="182880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1568" y="2121408"/>
            <a:ext cx="768096" cy="768096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28600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299923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50+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2880360" y="36576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0" y="182880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41848" y="2121408"/>
            <a:ext cx="768096" cy="768096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28600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0" y="299923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1,500+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5120640" y="36576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269480" y="182880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82128" y="2121408"/>
            <a:ext cx="768096" cy="768096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28600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299923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Multiple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7360920" y="36576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9509760" y="1828800"/>
            <a:ext cx="1993392" cy="27432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22408" y="2121408"/>
            <a:ext cx="768096" cy="768096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2286000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09760" y="2999232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Millions</a:t>
            </a:r>
            <a:endParaRPr lang="en-US" sz="3000" dirty="0"/>
          </a:p>
        </p:txBody>
      </p:sp>
      <p:sp>
        <p:nvSpPr>
          <p:cNvPr id="28" name="Text 21"/>
          <p:cNvSpPr/>
          <p:nvPr/>
        </p:nvSpPr>
        <p:spPr>
          <a:xfrm>
            <a:off x="9601200" y="36576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F2233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38928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463040" y="4892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needs one thing: centralized governance.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Storage is fragmented across every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65960"/>
            <a:ext cx="420624" cy="420624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482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928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storage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325880" y="21945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live in silos with no single home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34056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916936"/>
            <a:ext cx="420624" cy="420624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99232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84378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folder structures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325880" y="31455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invents its own hierarchy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85032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867912"/>
            <a:ext cx="420624" cy="420624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50208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7947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security practices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325880" y="40965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access and permissions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636008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818888"/>
            <a:ext cx="420624" cy="420624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90118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74573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325880" y="50474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see what exists where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586984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5769864"/>
            <a:ext cx="420624" cy="420624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852160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569671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325880" y="599846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naming, sizing or retention rules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589520" y="1783080"/>
            <a:ext cx="4023360" cy="4160520"/>
          </a:xfrm>
          <a:prstGeom prst="roundRect">
            <a:avLst>
              <a:gd name="adj" fmla="val 2273"/>
            </a:avLst>
          </a:prstGeom>
          <a:solidFill>
            <a:srgbClr val="0F2233"/>
          </a:solidFill>
          <a:ln/>
        </p:spPr>
      </p:sp>
      <p:sp>
        <p:nvSpPr>
          <p:cNvPr id="30" name="Text 23"/>
          <p:cNvSpPr/>
          <p:nvPr/>
        </p:nvSpPr>
        <p:spPr>
          <a:xfrm>
            <a:off x="777240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SCATTERED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229600" y="260604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1B3A4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2752344"/>
            <a:ext cx="274320" cy="27432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10424160" y="274320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1B3A4B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6768" y="2889504"/>
            <a:ext cx="274320" cy="27432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955280" y="393192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1B3A4B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888" y="4078224"/>
            <a:ext cx="274320" cy="27432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10698480" y="420624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1B3A4B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91088" y="4352544"/>
            <a:ext cx="274320" cy="27432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8595360" y="502920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1B3A4B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87968" y="5175504"/>
            <a:ext cx="274320" cy="274320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10058400" y="512064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1B3A4B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51008" y="5266944"/>
            <a:ext cx="274320" cy="274320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9326880" y="356616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1B3A4B"/>
          </a:solidFill>
          <a:ln/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19488" y="3712464"/>
            <a:ext cx="274320" cy="27432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77724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connections. No common ground.</a:t>
            </a:r>
            <a:endParaRPr lang="en-US" sz="1200" dirty="0"/>
          </a:p>
        </p:txBody>
      </p:sp>
      <p:sp>
        <p:nvSpPr>
          <p:cNvPr id="46" name="Text 3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47" name="Text 33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gaps standing in the 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76272"/>
            <a:ext cx="914400" cy="91440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42316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128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Governance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65960" y="26974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ownership or policy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176272"/>
            <a:ext cx="914400" cy="91440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423160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22128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Security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852160" y="26974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protection of assets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176272"/>
            <a:ext cx="914400" cy="91440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423160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38360" y="22128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Visibility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9738360" y="26974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insight into usage or growth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491740" y="38862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811780" y="4233672"/>
            <a:ext cx="914400" cy="91440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668" y="4480560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09060" y="4270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Standardization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3909060" y="47548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rules or conventions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377940" y="38862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97980" y="4233672"/>
            <a:ext cx="914400" cy="91440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4868" y="4480560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95260" y="4270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Scalability</a:t>
            </a:r>
            <a:endParaRPr lang="en-US" sz="1900" dirty="0"/>
          </a:p>
        </p:txBody>
      </p:sp>
      <p:sp>
        <p:nvSpPr>
          <p:cNvPr id="28" name="Text 21"/>
          <p:cNvSpPr/>
          <p:nvPr/>
        </p:nvSpPr>
        <p:spPr>
          <a:xfrm>
            <a:off x="7795260" y="47548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grow with demand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platform, organised and secure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65960"/>
            <a:ext cx="420624" cy="420624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482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928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storage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325880" y="21945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asset in one governed home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34056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916936"/>
            <a:ext cx="420624" cy="420624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99232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84378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folder structure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325880" y="31455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hierarchy for all teams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85032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867912"/>
            <a:ext cx="420624" cy="420624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50208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7947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security practices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325880" y="40965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access and permissions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636008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818888"/>
            <a:ext cx="420624" cy="420624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90118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74573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325880" y="50474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asset and how it's used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586984"/>
            <a:ext cx="67665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5769864"/>
            <a:ext cx="420624" cy="420624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852160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569671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standards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325880" y="599846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sizing and retention rules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589520" y="1783080"/>
            <a:ext cx="4023360" cy="4160520"/>
          </a:xfrm>
          <a:prstGeom prst="roundRect">
            <a:avLst>
              <a:gd name="adj" fmla="val 2273"/>
            </a:avLst>
          </a:prstGeom>
          <a:solidFill>
            <a:srgbClr val="0E9488"/>
          </a:solidFill>
          <a:ln/>
        </p:spPr>
      </p:sp>
      <p:sp>
        <p:nvSpPr>
          <p:cNvPr id="30" name="Text 23"/>
          <p:cNvSpPr/>
          <p:nvPr/>
        </p:nvSpPr>
        <p:spPr>
          <a:xfrm>
            <a:off x="7772400" y="1965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ORGANISED &amp; SECURE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9034272" y="3410712"/>
            <a:ext cx="1133856" cy="1133856"/>
          </a:xfrm>
          <a:prstGeom prst="ellipse">
            <a:avLst/>
          </a:prstGeom>
          <a:solidFill>
            <a:srgbClr val="0F2233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3666744"/>
            <a:ext cx="585216" cy="585216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9601200" y="3977640"/>
            <a:ext cx="22860" cy="-1179576"/>
          </a:xfrm>
          <a:prstGeom prst="line">
            <a:avLst/>
          </a:prstGeom>
          <a:noFill/>
          <a:ln w="19050">
            <a:solidFill>
              <a:srgbClr val="8FE3D8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9601200" y="3977640"/>
            <a:ext cx="1394460" cy="-402336"/>
          </a:xfrm>
          <a:prstGeom prst="line">
            <a:avLst/>
          </a:prstGeom>
          <a:noFill/>
          <a:ln w="19050">
            <a:solidFill>
              <a:srgbClr val="8FE3D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9601200" y="3977640"/>
            <a:ext cx="22860" cy="1197864"/>
          </a:xfrm>
          <a:prstGeom prst="line">
            <a:avLst/>
          </a:prstGeom>
          <a:noFill/>
          <a:ln w="19050">
            <a:solidFill>
              <a:srgbClr val="8FE3D8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9601200" y="3977640"/>
            <a:ext cx="-1074420" cy="-402336"/>
          </a:xfrm>
          <a:prstGeom prst="line">
            <a:avLst/>
          </a:prstGeom>
          <a:noFill/>
          <a:ln w="19050">
            <a:solidFill>
              <a:srgbClr val="8FE3D8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9189720" y="251460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0B7A6E"/>
          </a:solidFill>
          <a:ln w="12700">
            <a:solidFill>
              <a:srgbClr val="8FE3D8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2328" y="2660904"/>
            <a:ext cx="274320" cy="274320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10561320" y="329184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0B7A6E"/>
          </a:solidFill>
          <a:ln w="12700">
            <a:solidFill>
              <a:srgbClr val="8FE3D8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3928" y="3438144"/>
            <a:ext cx="274320" cy="274320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9189720" y="489204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0B7A6E"/>
          </a:solidFill>
          <a:ln w="12700">
            <a:solidFill>
              <a:srgbClr val="8FE3D8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2328" y="5038344"/>
            <a:ext cx="274320" cy="274320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8092440" y="329184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0B7A6E"/>
          </a:solidFill>
          <a:ln w="12700">
            <a:solidFill>
              <a:srgbClr val="8FE3D8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5048" y="3438144"/>
            <a:ext cx="274320" cy="27432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777240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Connected. Consistent. Controlled.</a:t>
            </a:r>
            <a:endParaRPr lang="en-US" sz="1200" dirty="0"/>
          </a:p>
        </p:txBody>
      </p:sp>
      <p:sp>
        <p:nvSpPr>
          <p:cNvPr id="46" name="Text 3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4114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10991088" y="4114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" name="Shape 2"/>
          <p:cNvSpPr/>
          <p:nvPr/>
        </p:nvSpPr>
        <p:spPr>
          <a:xfrm>
            <a:off x="11283696" y="4114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5" name="Shape 3"/>
          <p:cNvSpPr/>
          <p:nvPr/>
        </p:nvSpPr>
        <p:spPr>
          <a:xfrm>
            <a:off x="11576304" y="4114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0" y="7040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7" name="Shape 5"/>
          <p:cNvSpPr/>
          <p:nvPr/>
        </p:nvSpPr>
        <p:spPr>
          <a:xfrm>
            <a:off x="10991088" y="7040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8" name="Shape 6"/>
          <p:cNvSpPr/>
          <p:nvPr/>
        </p:nvSpPr>
        <p:spPr>
          <a:xfrm>
            <a:off x="11283696" y="7040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9" name="Shape 7"/>
          <p:cNvSpPr/>
          <p:nvPr/>
        </p:nvSpPr>
        <p:spPr>
          <a:xfrm>
            <a:off x="11576304" y="7040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0" y="9966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1" name="Shape 9"/>
          <p:cNvSpPr/>
          <p:nvPr/>
        </p:nvSpPr>
        <p:spPr>
          <a:xfrm>
            <a:off x="10991088" y="9966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83696" y="9966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76304" y="9966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128930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91088" y="128930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83696" y="128930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76304" y="128930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INACTION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7498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Risks of staying as-is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548640" y="1965960"/>
            <a:ext cx="2148840" cy="3291840"/>
          </a:xfrm>
          <a:prstGeom prst="roundRect">
            <a:avLst>
              <a:gd name="adj" fmla="val 3830"/>
            </a:avLst>
          </a:prstGeom>
          <a:solidFill>
            <a:srgbClr val="1B3A4B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5860" y="2286000"/>
            <a:ext cx="914400" cy="91440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172" y="2496312"/>
            <a:ext cx="493776" cy="4937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580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storage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5800" y="4160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files copied again and again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880360" y="1965960"/>
            <a:ext cx="2148840" cy="3291840"/>
          </a:xfrm>
          <a:prstGeom prst="roundRect">
            <a:avLst>
              <a:gd name="adj" fmla="val 3830"/>
            </a:avLst>
          </a:prstGeom>
          <a:solidFill>
            <a:srgbClr val="1B3A4B"/>
          </a:solidFill>
          <a:ln/>
        </p:spPr>
      </p:sp>
      <p:sp>
        <p:nvSpPr>
          <p:cNvPr id="26" name="Shape 23"/>
          <p:cNvSpPr/>
          <p:nvPr/>
        </p:nvSpPr>
        <p:spPr>
          <a:xfrm>
            <a:off x="3497580" y="2286000"/>
            <a:ext cx="914400" cy="91440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2496312"/>
            <a:ext cx="493776" cy="49377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01752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files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3017520" y="4160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nobody owns or tracks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212080" y="1965960"/>
            <a:ext cx="2148840" cy="3291840"/>
          </a:xfrm>
          <a:prstGeom prst="roundRect">
            <a:avLst>
              <a:gd name="adj" fmla="val 3830"/>
            </a:avLst>
          </a:prstGeom>
          <a:solidFill>
            <a:srgbClr val="1B3A4B"/>
          </a:solidFill>
          <a:ln/>
        </p:spPr>
      </p:sp>
      <p:sp>
        <p:nvSpPr>
          <p:cNvPr id="31" name="Shape 27"/>
          <p:cNvSpPr/>
          <p:nvPr/>
        </p:nvSpPr>
        <p:spPr>
          <a:xfrm>
            <a:off x="5829300" y="2286000"/>
            <a:ext cx="914400" cy="91440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2" y="2496312"/>
            <a:ext cx="493776" cy="49377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34924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vulnerabilities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5349240" y="4160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data and weak access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7543800" y="1965960"/>
            <a:ext cx="2148840" cy="3291840"/>
          </a:xfrm>
          <a:prstGeom prst="roundRect">
            <a:avLst>
              <a:gd name="adj" fmla="val 3830"/>
            </a:avLst>
          </a:prstGeom>
          <a:solidFill>
            <a:srgbClr val="1B3A4B"/>
          </a:solidFill>
          <a:ln/>
        </p:spPr>
      </p:sp>
      <p:sp>
        <p:nvSpPr>
          <p:cNvPr id="36" name="Shape 31"/>
          <p:cNvSpPr/>
          <p:nvPr/>
        </p:nvSpPr>
        <p:spPr>
          <a:xfrm>
            <a:off x="8161020" y="2286000"/>
            <a:ext cx="914400" cy="91440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332" y="2496312"/>
            <a:ext cx="493776" cy="49377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68096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infrastructure cost</a:t>
            </a:r>
            <a:endParaRPr lang="en-US" sz="1500" dirty="0"/>
          </a:p>
        </p:txBody>
      </p:sp>
      <p:sp>
        <p:nvSpPr>
          <p:cNvPr id="39" name="Text 33"/>
          <p:cNvSpPr/>
          <p:nvPr/>
        </p:nvSpPr>
        <p:spPr>
          <a:xfrm>
            <a:off x="7680960" y="4160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for waste and sprawl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9875520" y="1965960"/>
            <a:ext cx="2148840" cy="3291840"/>
          </a:xfrm>
          <a:prstGeom prst="roundRect">
            <a:avLst>
              <a:gd name="adj" fmla="val 3830"/>
            </a:avLst>
          </a:prstGeom>
          <a:solidFill>
            <a:srgbClr val="1B3A4B"/>
          </a:solidFill>
          <a:ln/>
        </p:spPr>
      </p:sp>
      <p:sp>
        <p:nvSpPr>
          <p:cNvPr id="41" name="Shape 35"/>
          <p:cNvSpPr/>
          <p:nvPr/>
        </p:nvSpPr>
        <p:spPr>
          <a:xfrm>
            <a:off x="10492740" y="2286000"/>
            <a:ext cx="914400" cy="91440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3052" y="2496312"/>
            <a:ext cx="493776" cy="49377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0012680" y="3337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maintenance</a:t>
            </a:r>
            <a:endParaRPr lang="en-US" sz="1500" dirty="0"/>
          </a:p>
        </p:txBody>
      </p:sp>
      <p:sp>
        <p:nvSpPr>
          <p:cNvPr id="44" name="Text 37"/>
          <p:cNvSpPr/>
          <p:nvPr/>
        </p:nvSpPr>
        <p:spPr>
          <a:xfrm>
            <a:off x="10012680" y="41605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is slow and manual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897880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5897880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" y="5897880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5" name="Shape 3"/>
          <p:cNvSpPr/>
          <p:nvPr/>
        </p:nvSpPr>
        <p:spPr>
          <a:xfrm>
            <a:off x="1389888" y="5897880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6" name="Shape 4"/>
          <p:cNvSpPr/>
          <p:nvPr/>
        </p:nvSpPr>
        <p:spPr>
          <a:xfrm>
            <a:off x="1700784" y="5897880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5897880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8" name="Shape 6"/>
          <p:cNvSpPr/>
          <p:nvPr/>
        </p:nvSpPr>
        <p:spPr>
          <a:xfrm>
            <a:off x="2322576" y="5897880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9" name="Shape 7"/>
          <p:cNvSpPr/>
          <p:nvPr/>
        </p:nvSpPr>
        <p:spPr>
          <a:xfrm>
            <a:off x="2633472" y="5897880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10" name="Shape 8"/>
          <p:cNvSpPr/>
          <p:nvPr/>
        </p:nvSpPr>
        <p:spPr>
          <a:xfrm>
            <a:off x="2944368" y="5897880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5897880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6208776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6208776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" y="6208776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9888" y="6208776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1700784" y="6208776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17" name="Shape 15"/>
          <p:cNvSpPr/>
          <p:nvPr/>
        </p:nvSpPr>
        <p:spPr>
          <a:xfrm>
            <a:off x="2011680" y="6208776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18" name="Shape 16"/>
          <p:cNvSpPr/>
          <p:nvPr/>
        </p:nvSpPr>
        <p:spPr>
          <a:xfrm>
            <a:off x="2322576" y="6208776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19" name="Shape 17"/>
          <p:cNvSpPr/>
          <p:nvPr/>
        </p:nvSpPr>
        <p:spPr>
          <a:xfrm>
            <a:off x="2633472" y="6208776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44368" y="6208776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21" name="Shape 19"/>
          <p:cNvSpPr/>
          <p:nvPr/>
        </p:nvSpPr>
        <p:spPr>
          <a:xfrm>
            <a:off x="3255264" y="6208776"/>
            <a:ext cx="73152" cy="73152"/>
          </a:xfrm>
          <a:prstGeom prst="ellipse">
            <a:avLst/>
          </a:prstGeom>
          <a:solidFill>
            <a:srgbClr val="0B7A6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868680" cy="8686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22960" y="297180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Enterprise Storage Platform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E8F1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serving every application, website and digital initiative.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success looks like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240280"/>
            <a:ext cx="868680" cy="86868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45973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67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Centralized Storage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6791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source of truth for assets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27448" y="2240280"/>
            <a:ext cx="868680" cy="86868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45973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2167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760720" y="26791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Protected, controlled, encrypted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13648" y="2240280"/>
            <a:ext cx="868680" cy="86868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2459736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46920" y="2167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646920" y="26791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and policy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297680"/>
            <a:ext cx="868680" cy="86868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517136"/>
            <a:ext cx="429768" cy="429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224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874520" y="4736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visibility into usage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34840" y="384048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27448" y="4297680"/>
            <a:ext cx="868680" cy="86868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4517136"/>
            <a:ext cx="429768" cy="4297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60720" y="4224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5760720" y="4736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the institution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321040" y="384048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613648" y="4297680"/>
            <a:ext cx="868680" cy="86868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104" y="4517136"/>
            <a:ext cx="429768" cy="4297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646920" y="42245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Lower Cost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9646920" y="47365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duplication and waste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object-storage core with built-in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38344" y="2834640"/>
            <a:ext cx="2103120" cy="2103120"/>
          </a:xfrm>
          <a:prstGeom prst="ellipse">
            <a:avLst/>
          </a:prstGeom>
          <a:solidFill>
            <a:srgbClr val="0F2233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704" y="3319272"/>
            <a:ext cx="91440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75504" y="4142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Core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011680" y="18288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176272" y="2029968"/>
            <a:ext cx="475488" cy="475488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13969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18288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Management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18288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394192" y="2029968"/>
            <a:ext cx="475488" cy="475488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3969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61120" y="18288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Keys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1097280" y="370332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1261872" y="3904488"/>
            <a:ext cx="475488" cy="475488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01421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37033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 Policies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9326880" y="370332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491472" y="3904488"/>
            <a:ext cx="475488" cy="475488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4014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0" y="370332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074920" y="54864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239512" y="5687568"/>
            <a:ext cx="475488" cy="475488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5797296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806440" y="54864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Rules that keep storage organized over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57984" cy="3108960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E7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837944" y="2267712"/>
            <a:ext cx="603504" cy="603504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241401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06324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Categories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8862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asset by type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71216" y="2011680"/>
            <a:ext cx="2157984" cy="3108960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054096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E7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4160520" y="2267712"/>
            <a:ext cx="603504" cy="603504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241401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72384" y="306324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Standards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072384" y="38862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convention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193792" y="2011680"/>
            <a:ext cx="2157984" cy="3108960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376672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E7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483096" y="2267712"/>
            <a:ext cx="603504" cy="603504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41401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94960" y="306324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 Limits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394960" y="38862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on what's stored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516368" y="2011680"/>
            <a:ext cx="2157984" cy="3108960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699248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E7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8805672" y="2267712"/>
            <a:ext cx="603504" cy="603504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976" y="2414016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17536" y="306324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Policy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717536" y="38862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assets are kept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838944" y="2011680"/>
            <a:ext cx="2157984" cy="3108960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10021824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DE7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Shape 24"/>
          <p:cNvSpPr/>
          <p:nvPr/>
        </p:nvSpPr>
        <p:spPr>
          <a:xfrm>
            <a:off x="11128248" y="2267712"/>
            <a:ext cx="603504" cy="603504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4552" y="2414016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040112" y="306324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0040112" y="388620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and retire automatically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114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4114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040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7040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7040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966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9966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9966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FRAMEWORK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7498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Defense in depth, layer by layer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914400" y="2468880"/>
            <a:ext cx="2743200" cy="274320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3108960"/>
            <a:ext cx="1188720" cy="1371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0" y="1691640"/>
            <a:ext cx="7040880" cy="786384"/>
          </a:xfrm>
          <a:prstGeom prst="roundRect">
            <a:avLst>
              <a:gd name="adj" fmla="val 8140"/>
            </a:avLst>
          </a:prstGeom>
          <a:solidFill>
            <a:srgbClr val="1B3A4B"/>
          </a:solidFill>
          <a:ln/>
        </p:spPr>
      </p:sp>
      <p:sp>
        <p:nvSpPr>
          <p:cNvPr id="16" name="Shape 13"/>
          <p:cNvSpPr/>
          <p:nvPr/>
        </p:nvSpPr>
        <p:spPr>
          <a:xfrm>
            <a:off x="4754880" y="1874520"/>
            <a:ext cx="475488" cy="475488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984248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94960" y="18105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498080" y="181051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every user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572000" y="2587752"/>
            <a:ext cx="7040880" cy="786384"/>
          </a:xfrm>
          <a:prstGeom prst="roundRect">
            <a:avLst>
              <a:gd name="adj" fmla="val 8140"/>
            </a:avLst>
          </a:prstGeom>
          <a:solidFill>
            <a:srgbClr val="1B3A4B"/>
          </a:solidFill>
          <a:ln/>
        </p:spPr>
      </p:sp>
      <p:sp>
        <p:nvSpPr>
          <p:cNvPr id="21" name="Shape 17"/>
          <p:cNvSpPr/>
          <p:nvPr/>
        </p:nvSpPr>
        <p:spPr>
          <a:xfrm>
            <a:off x="4754880" y="2770632"/>
            <a:ext cx="475488" cy="475488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88036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4960" y="270662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498080" y="270662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Time-limited, tamper-proof links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572000" y="3483864"/>
            <a:ext cx="7040880" cy="786384"/>
          </a:xfrm>
          <a:prstGeom prst="roundRect">
            <a:avLst>
              <a:gd name="adj" fmla="val 8140"/>
            </a:avLst>
          </a:prstGeom>
          <a:solidFill>
            <a:srgbClr val="1B3A4B"/>
          </a:solidFill>
          <a:ln/>
        </p:spPr>
      </p:sp>
      <p:sp>
        <p:nvSpPr>
          <p:cNvPr id="26" name="Shape 21"/>
          <p:cNvSpPr/>
          <p:nvPr/>
        </p:nvSpPr>
        <p:spPr>
          <a:xfrm>
            <a:off x="4754880" y="3666744"/>
            <a:ext cx="475488" cy="475488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776472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94960" y="360273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498080" y="36027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cross-origin requests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4572000" y="4379976"/>
            <a:ext cx="7040880" cy="786384"/>
          </a:xfrm>
          <a:prstGeom prst="roundRect">
            <a:avLst>
              <a:gd name="adj" fmla="val 8140"/>
            </a:avLst>
          </a:prstGeom>
          <a:solidFill>
            <a:srgbClr val="1B3A4B"/>
          </a:solidFill>
          <a:ln/>
        </p:spPr>
      </p:sp>
      <p:sp>
        <p:nvSpPr>
          <p:cNvPr id="31" name="Shape 25"/>
          <p:cNvSpPr/>
          <p:nvPr/>
        </p:nvSpPr>
        <p:spPr>
          <a:xfrm>
            <a:off x="4754880" y="4562856"/>
            <a:ext cx="475488" cy="475488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672584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94960" y="449884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7498080" y="449884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protected at rest and in transit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4572000" y="5276088"/>
            <a:ext cx="7040880" cy="786384"/>
          </a:xfrm>
          <a:prstGeom prst="roundRect">
            <a:avLst>
              <a:gd name="adj" fmla="val 8140"/>
            </a:avLst>
          </a:prstGeom>
          <a:solidFill>
            <a:srgbClr val="1B3A4B"/>
          </a:solidFill>
          <a:ln/>
        </p:spPr>
      </p:sp>
      <p:sp>
        <p:nvSpPr>
          <p:cNvPr id="36" name="Shape 29"/>
          <p:cNvSpPr/>
          <p:nvPr/>
        </p:nvSpPr>
        <p:spPr>
          <a:xfrm>
            <a:off x="4754880" y="5458968"/>
            <a:ext cx="475488" cy="475488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5568696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394960" y="539496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7498080" y="539496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traceable and recorded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Easy for teams to build on, day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8740" y="2331720"/>
            <a:ext cx="1097280" cy="109728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58775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Standard APIs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predictable endpoints for every team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93008" y="192024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3108" y="2331720"/>
            <a:ext cx="1097280" cy="109728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2587752"/>
            <a:ext cx="585216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75888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Bucket Provisioning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767328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storage in minutes, not weeks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37376" y="192024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7476" y="2331720"/>
            <a:ext cx="1097280" cy="109728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2587752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SDKs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711696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libraries for popular languages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381744" y="192024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81844" y="2331720"/>
            <a:ext cx="1097280" cy="1097280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7876" y="2587752"/>
            <a:ext cx="585216" cy="585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64624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656064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guides, examples and references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insight into storage health and growth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576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93976"/>
            <a:ext cx="493776" cy="493776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128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Usage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36576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191256"/>
            <a:ext cx="493776" cy="493776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3101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71800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Trends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36576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4288536"/>
            <a:ext cx="493776" cy="493776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0740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069080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Download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5166360"/>
            <a:ext cx="36576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5385816"/>
            <a:ext cx="493776" cy="493776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504688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166360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526280" y="18745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47548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Growth (TB)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0" y="2331720"/>
          <a:ext cx="3337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3" name="Shape 16"/>
          <p:cNvSpPr/>
          <p:nvPr/>
        </p:nvSpPr>
        <p:spPr>
          <a:xfrm>
            <a:off x="8183880" y="18745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vs Download (GB/day)</a:t>
            </a:r>
            <a:endParaRPr lang="en-US" sz="120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8229600" y="2331720"/>
          <a:ext cx="3337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6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phases from audit to optimization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54480" y="2971800"/>
            <a:ext cx="9098280" cy="0"/>
          </a:xfrm>
          <a:prstGeom prst="line">
            <a:avLst/>
          </a:prstGeom>
          <a:noFill/>
          <a:ln w="25400">
            <a:solidFill>
              <a:srgbClr val="0E948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42416" y="2395728"/>
            <a:ext cx="1133856" cy="1133856"/>
          </a:xfrm>
          <a:prstGeom prst="ellipse">
            <a:avLst/>
          </a:prstGeom>
          <a:solidFill>
            <a:srgbClr val="0E9488"/>
          </a:solidFill>
          <a:ln w="50800">
            <a:solidFill>
              <a:srgbClr val="0F22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651760"/>
            <a:ext cx="603504" cy="603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74904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1B3A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319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206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Audit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4663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what exists today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46704" y="2395728"/>
            <a:ext cx="1133856" cy="1133856"/>
          </a:xfrm>
          <a:prstGeom prst="ellipse">
            <a:avLst/>
          </a:prstGeom>
          <a:solidFill>
            <a:srgbClr val="0E9488"/>
          </a:solidFill>
          <a:ln w="50800">
            <a:solidFill>
              <a:srgbClr val="0F22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651760"/>
            <a:ext cx="603504" cy="6035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52928" y="374904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1B3A4B"/>
          </a:solidFill>
          <a:ln/>
        </p:spPr>
      </p:sp>
      <p:sp>
        <p:nvSpPr>
          <p:cNvPr id="14" name="Text 10"/>
          <p:cNvSpPr/>
          <p:nvPr/>
        </p:nvSpPr>
        <p:spPr>
          <a:xfrm>
            <a:off x="2852928" y="39319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852928" y="4206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990088" y="4663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rules &amp; standards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650992" y="2395728"/>
            <a:ext cx="1133856" cy="1133856"/>
          </a:xfrm>
          <a:prstGeom prst="ellipse">
            <a:avLst/>
          </a:prstGeom>
          <a:solidFill>
            <a:srgbClr val="0E9488"/>
          </a:solidFill>
          <a:ln w="50800">
            <a:solidFill>
              <a:srgbClr val="0F22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2651760"/>
            <a:ext cx="603504" cy="60350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157216" y="374904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1B3A4B"/>
          </a:solidFill>
          <a:ln/>
        </p:spPr>
      </p:sp>
      <p:sp>
        <p:nvSpPr>
          <p:cNvPr id="20" name="Text 15"/>
          <p:cNvSpPr/>
          <p:nvPr/>
        </p:nvSpPr>
        <p:spPr>
          <a:xfrm>
            <a:off x="5157216" y="39319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157216" y="4206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Platform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294376" y="4663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storage core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955280" y="2395728"/>
            <a:ext cx="1133856" cy="1133856"/>
          </a:xfrm>
          <a:prstGeom prst="ellipse">
            <a:avLst/>
          </a:prstGeom>
          <a:solidFill>
            <a:srgbClr val="0E9488"/>
          </a:solidFill>
          <a:ln w="50800">
            <a:solidFill>
              <a:srgbClr val="0F223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2651760"/>
            <a:ext cx="603504" cy="60350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461504" y="374904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1B3A4B"/>
          </a:solidFill>
          <a:ln/>
        </p:spPr>
      </p:sp>
      <p:sp>
        <p:nvSpPr>
          <p:cNvPr id="26" name="Text 20"/>
          <p:cNvSpPr/>
          <p:nvPr/>
        </p:nvSpPr>
        <p:spPr>
          <a:xfrm>
            <a:off x="7461504" y="39319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461504" y="4206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Migration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598664" y="4663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assets in safely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10259568" y="2395728"/>
            <a:ext cx="1133856" cy="1133856"/>
          </a:xfrm>
          <a:prstGeom prst="ellipse">
            <a:avLst/>
          </a:prstGeom>
          <a:solidFill>
            <a:srgbClr val="0E9488"/>
          </a:solidFill>
          <a:ln w="50800">
            <a:solidFill>
              <a:srgbClr val="0F223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4744" y="2651760"/>
            <a:ext cx="603504" cy="60350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765792" y="3749040"/>
            <a:ext cx="2121408" cy="1600200"/>
          </a:xfrm>
          <a:prstGeom prst="roundRect">
            <a:avLst>
              <a:gd name="adj" fmla="val 5143"/>
            </a:avLst>
          </a:prstGeom>
          <a:solidFill>
            <a:srgbClr val="1B3A4B"/>
          </a:solidFill>
          <a:ln/>
        </p:spPr>
      </p:sp>
      <p:sp>
        <p:nvSpPr>
          <p:cNvPr id="32" name="Text 25"/>
          <p:cNvSpPr/>
          <p:nvPr/>
        </p:nvSpPr>
        <p:spPr>
          <a:xfrm>
            <a:off x="9765792" y="39319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9765792" y="4206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Optimization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9902952" y="46634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Tune, monitor, improve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kickoff to go-live in twelve weeks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01752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01752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3380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3380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008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5008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6636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264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8264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892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9892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148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3148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4776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4776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6404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8032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18032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96600" y="1783080"/>
            <a:ext cx="71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89660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612880" y="2103120"/>
            <a:ext cx="0" cy="4059936"/>
          </a:xfrm>
          <a:prstGeom prst="line">
            <a:avLst/>
          </a:prstGeom>
          <a:noFill/>
          <a:ln w="9525">
            <a:solidFill>
              <a:srgbClr val="D8E3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2148840"/>
            <a:ext cx="233172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2304288"/>
            <a:ext cx="365760" cy="36576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386584"/>
            <a:ext cx="201168" cy="2011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207008" y="2148840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3054096" y="2267712"/>
            <a:ext cx="1359408" cy="438912"/>
          </a:xfrm>
          <a:prstGeom prst="roundRect">
            <a:avLst>
              <a:gd name="adj" fmla="val 12500"/>
            </a:avLst>
          </a:prstGeom>
          <a:solidFill>
            <a:srgbClr val="0E9488"/>
          </a:solidFill>
          <a:ln/>
        </p:spPr>
      </p:sp>
      <p:sp>
        <p:nvSpPr>
          <p:cNvPr id="34" name="Text 31"/>
          <p:cNvSpPr/>
          <p:nvPr/>
        </p:nvSpPr>
        <p:spPr>
          <a:xfrm>
            <a:off x="3017520" y="2267712"/>
            <a:ext cx="143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2971800"/>
            <a:ext cx="233172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13232" y="3127248"/>
            <a:ext cx="365760" cy="36576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209544"/>
            <a:ext cx="201168" cy="20116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1207008" y="2971800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350" dirty="0"/>
          </a:p>
        </p:txBody>
      </p:sp>
      <p:sp>
        <p:nvSpPr>
          <p:cNvPr id="39" name="Shape 35"/>
          <p:cNvSpPr/>
          <p:nvPr/>
        </p:nvSpPr>
        <p:spPr>
          <a:xfrm>
            <a:off x="4486656" y="3090672"/>
            <a:ext cx="1359408" cy="438912"/>
          </a:xfrm>
          <a:prstGeom prst="roundRect">
            <a:avLst>
              <a:gd name="adj" fmla="val 12500"/>
            </a:avLst>
          </a:prstGeom>
          <a:solidFill>
            <a:srgbClr val="0E9488"/>
          </a:solidFill>
          <a:ln/>
        </p:spPr>
      </p:sp>
      <p:sp>
        <p:nvSpPr>
          <p:cNvPr id="40" name="Text 36"/>
          <p:cNvSpPr/>
          <p:nvPr/>
        </p:nvSpPr>
        <p:spPr>
          <a:xfrm>
            <a:off x="4450080" y="3090672"/>
            <a:ext cx="143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48640" y="3794760"/>
            <a:ext cx="233172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713232" y="3950208"/>
            <a:ext cx="365760" cy="36576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032504"/>
            <a:ext cx="201168" cy="20116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1207008" y="3794760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45" name="Shape 40"/>
          <p:cNvSpPr/>
          <p:nvPr/>
        </p:nvSpPr>
        <p:spPr>
          <a:xfrm>
            <a:off x="5919216" y="3913632"/>
            <a:ext cx="2791968" cy="438912"/>
          </a:xfrm>
          <a:prstGeom prst="roundRect">
            <a:avLst>
              <a:gd name="adj" fmla="val 12500"/>
            </a:avLst>
          </a:prstGeom>
          <a:solidFill>
            <a:srgbClr val="0E9488"/>
          </a:solidFill>
          <a:ln/>
        </p:spPr>
      </p:sp>
      <p:sp>
        <p:nvSpPr>
          <p:cNvPr id="46" name="Text 41"/>
          <p:cNvSpPr/>
          <p:nvPr/>
        </p:nvSpPr>
        <p:spPr>
          <a:xfrm>
            <a:off x="5882640" y="3913632"/>
            <a:ext cx="286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5-8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548640" y="4617720"/>
            <a:ext cx="233172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713232" y="4773168"/>
            <a:ext cx="365760" cy="36576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855464"/>
            <a:ext cx="201168" cy="201168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207008" y="4617720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350" dirty="0"/>
          </a:p>
        </p:txBody>
      </p:sp>
      <p:sp>
        <p:nvSpPr>
          <p:cNvPr id="51" name="Shape 45"/>
          <p:cNvSpPr/>
          <p:nvPr/>
        </p:nvSpPr>
        <p:spPr>
          <a:xfrm>
            <a:off x="8784336" y="4736592"/>
            <a:ext cx="1359408" cy="438912"/>
          </a:xfrm>
          <a:prstGeom prst="roundRect">
            <a:avLst>
              <a:gd name="adj" fmla="val 12500"/>
            </a:avLst>
          </a:prstGeom>
          <a:solidFill>
            <a:srgbClr val="0E9488"/>
          </a:solidFill>
          <a:ln/>
        </p:spPr>
      </p:sp>
      <p:sp>
        <p:nvSpPr>
          <p:cNvPr id="52" name="Text 46"/>
          <p:cNvSpPr/>
          <p:nvPr/>
        </p:nvSpPr>
        <p:spPr>
          <a:xfrm>
            <a:off x="8747760" y="4736592"/>
            <a:ext cx="143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9-10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48640" y="5440680"/>
            <a:ext cx="233172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713232" y="5596128"/>
            <a:ext cx="365760" cy="36576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678424"/>
            <a:ext cx="201168" cy="201168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1207008" y="5440680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50" dirty="0"/>
          </a:p>
        </p:txBody>
      </p:sp>
      <p:sp>
        <p:nvSpPr>
          <p:cNvPr id="57" name="Shape 50"/>
          <p:cNvSpPr/>
          <p:nvPr/>
        </p:nvSpPr>
        <p:spPr>
          <a:xfrm>
            <a:off x="10216896" y="5559552"/>
            <a:ext cx="1359408" cy="438912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58" name="Text 51"/>
          <p:cNvSpPr/>
          <p:nvPr/>
        </p:nvSpPr>
        <p:spPr>
          <a:xfrm>
            <a:off x="10180320" y="5559552"/>
            <a:ext cx="143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11-12</a:t>
            </a:r>
            <a:endParaRPr lang="en-US" sz="1100" dirty="0"/>
          </a:p>
        </p:txBody>
      </p:sp>
      <p:sp>
        <p:nvSpPr>
          <p:cNvPr id="59" name="Text 5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60" name="Text 53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organization gains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603504" cy="603504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0370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Better Governance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238658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and consistent policy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057400"/>
            <a:ext cx="603504" cy="603504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20370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8424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Improved Security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269480" y="238658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protected end to end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090672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364992"/>
            <a:ext cx="603504" cy="603504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5112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2918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Reduced Duplication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45920" y="3694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copy, one source of truth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090672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364992"/>
            <a:ext cx="603504" cy="603504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351129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2918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Simplified Maintenance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269480" y="3694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effort, fewer errors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360420" y="4398264"/>
            <a:ext cx="5440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4740" y="4672584"/>
            <a:ext cx="603504" cy="603504"/>
          </a:xfrm>
          <a:prstGeom prst="ellipse">
            <a:avLst/>
          </a:prstGeom>
          <a:solidFill>
            <a:srgbClr val="0F22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044" y="481888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57700" y="459943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Future Ready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457700" y="500176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with new initiatives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10003536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" name="Shape 2"/>
          <p:cNvSpPr/>
          <p:nvPr/>
        </p:nvSpPr>
        <p:spPr>
          <a:xfrm>
            <a:off x="10314432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5" name="Shape 3"/>
          <p:cNvSpPr/>
          <p:nvPr/>
        </p:nvSpPr>
        <p:spPr>
          <a:xfrm>
            <a:off x="10625328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6" name="Shape 4"/>
          <p:cNvSpPr/>
          <p:nvPr/>
        </p:nvSpPr>
        <p:spPr>
          <a:xfrm>
            <a:off x="10936224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0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9" name="Shape 7"/>
          <p:cNvSpPr/>
          <p:nvPr/>
        </p:nvSpPr>
        <p:spPr>
          <a:xfrm>
            <a:off x="10003536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0" name="Shape 8"/>
          <p:cNvSpPr/>
          <p:nvPr/>
        </p:nvSpPr>
        <p:spPr>
          <a:xfrm>
            <a:off x="10314432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1" name="Shape 9"/>
          <p:cNvSpPr/>
          <p:nvPr/>
        </p:nvSpPr>
        <p:spPr>
          <a:xfrm>
            <a:off x="10625328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36224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47120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4" name="Shape 12"/>
          <p:cNvSpPr/>
          <p:nvPr/>
        </p:nvSpPr>
        <p:spPr>
          <a:xfrm>
            <a:off x="9692640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03536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14432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25328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36224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47120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0" name="Shape 18"/>
          <p:cNvSpPr/>
          <p:nvPr/>
        </p:nvSpPr>
        <p:spPr>
          <a:xfrm>
            <a:off x="9692640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03536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14432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25328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36224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47120" y="13898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2640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03536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14432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25328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36224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47120" y="1700784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2" name="Shape 30"/>
          <p:cNvSpPr/>
          <p:nvPr/>
        </p:nvSpPr>
        <p:spPr>
          <a:xfrm>
            <a:off x="9692640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03536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14432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25328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36224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47120" y="201168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8" name="Shape 36"/>
          <p:cNvSpPr/>
          <p:nvPr/>
        </p:nvSpPr>
        <p:spPr>
          <a:xfrm>
            <a:off x="9692640" y="232257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03536" y="232257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0" name="Shape 38"/>
          <p:cNvSpPr/>
          <p:nvPr/>
        </p:nvSpPr>
        <p:spPr>
          <a:xfrm>
            <a:off x="10314432" y="232257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25328" y="232257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2" name="Shape 40"/>
          <p:cNvSpPr/>
          <p:nvPr/>
        </p:nvSpPr>
        <p:spPr>
          <a:xfrm>
            <a:off x="10936224" y="232257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3" name="Shape 41"/>
          <p:cNvSpPr/>
          <p:nvPr/>
        </p:nvSpPr>
        <p:spPr>
          <a:xfrm>
            <a:off x="11247120" y="232257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1005840" cy="100584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86868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822960" y="3200400"/>
            <a:ext cx="9326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Enterprise storage as the foundation</a:t>
            </a:r>
            <a:pPr indent="0" marL="0">
              <a:lnSpc>
                <a:spcPct val="108000"/>
              </a:lnSpc>
              <a:buNone/>
            </a:pPr>
            <a:r>
              <a:rPr lang="en-US" sz="4000" dirty="0">
                <a:solidFill>
                  <a:srgbClr val="E8F1F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for all university digital platforms.</a:t>
            </a:r>
            <a:endParaRPr lang="en-US" sz="4000" dirty="0"/>
          </a:p>
        </p:txBody>
      </p:sp>
      <p:sp>
        <p:nvSpPr>
          <p:cNvPr id="47" name="Text 4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2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we'll measure the win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70048" cy="3291840"/>
          </a:xfrm>
          <a:prstGeom prst="roundRect">
            <a:avLst>
              <a:gd name="adj" fmla="val 3425"/>
            </a:avLst>
          </a:prstGeom>
          <a:solidFill>
            <a:srgbClr val="0F2233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6464" y="2331720"/>
            <a:ext cx="914400" cy="91440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54203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42900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42519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Storage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65576" y="1965960"/>
            <a:ext cx="2670048" cy="329184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2331720"/>
            <a:ext cx="914400" cy="91440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54203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5576" y="342900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100%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3648456" y="42519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Governance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382512" y="1965960"/>
            <a:ext cx="2670048" cy="3291840"/>
          </a:xfrm>
          <a:prstGeom prst="roundRect">
            <a:avLst>
              <a:gd name="adj" fmla="val 3425"/>
            </a:avLst>
          </a:prstGeom>
          <a:solidFill>
            <a:srgbClr val="0F2233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60336" y="2331720"/>
            <a:ext cx="914400" cy="914400"/>
          </a:xfrm>
          <a:prstGeom prst="ellipse">
            <a:avLst/>
          </a:prstGeom>
          <a:solidFill>
            <a:srgbClr val="1B3A4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254203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342900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6565392" y="42519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299448" y="1965960"/>
            <a:ext cx="2670048" cy="329184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2233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77272" y="2331720"/>
            <a:ext cx="914400" cy="914400"/>
          </a:xfrm>
          <a:prstGeom prst="ellipse">
            <a:avLst/>
          </a:prstGeom>
          <a:solidFill>
            <a:srgbClr val="E8F1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4" y="254203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9448" y="3429000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Reduced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9482328" y="425196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Complexity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File Storage Modernization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63447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5" name="Shape 3"/>
          <p:cNvSpPr/>
          <p:nvPr/>
        </p:nvSpPr>
        <p:spPr>
          <a:xfrm>
            <a:off x="1435608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6" name="Shape 4"/>
          <p:cNvSpPr/>
          <p:nvPr/>
        </p:nvSpPr>
        <p:spPr>
          <a:xfrm>
            <a:off x="1746504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4572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0" name="Shape 8"/>
          <p:cNvSpPr/>
          <p:nvPr/>
        </p:nvSpPr>
        <p:spPr>
          <a:xfrm>
            <a:off x="1124712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1" name="Shape 9"/>
          <p:cNvSpPr/>
          <p:nvPr/>
        </p:nvSpPr>
        <p:spPr>
          <a:xfrm>
            <a:off x="1435608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2" name="Shape 10"/>
          <p:cNvSpPr/>
          <p:nvPr/>
        </p:nvSpPr>
        <p:spPr>
          <a:xfrm>
            <a:off x="1746504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7680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4712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7" name="Shape 15"/>
          <p:cNvSpPr/>
          <p:nvPr/>
        </p:nvSpPr>
        <p:spPr>
          <a:xfrm>
            <a:off x="1435608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8" name="Shape 16"/>
          <p:cNvSpPr/>
          <p:nvPr/>
        </p:nvSpPr>
        <p:spPr>
          <a:xfrm>
            <a:off x="1746504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10789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0" name="Shape 18"/>
          <p:cNvSpPr/>
          <p:nvPr/>
        </p:nvSpPr>
        <p:spPr>
          <a:xfrm>
            <a:off x="9692640" y="45720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03536" y="45720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14432" y="45720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25328" y="45720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36224" y="45720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47120" y="4572000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2640" y="48828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03536" y="48828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14432" y="48828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25328" y="48828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36224" y="48828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47120" y="4882896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2" name="Shape 30"/>
          <p:cNvSpPr/>
          <p:nvPr/>
        </p:nvSpPr>
        <p:spPr>
          <a:xfrm>
            <a:off x="9692640" y="51937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03536" y="51937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14432" y="51937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25328" y="51937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36224" y="51937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47120" y="5193792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8" name="Shape 36"/>
          <p:cNvSpPr/>
          <p:nvPr/>
        </p:nvSpPr>
        <p:spPr>
          <a:xfrm>
            <a:off x="9692640" y="55046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03536" y="55046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0" name="Shape 38"/>
          <p:cNvSpPr/>
          <p:nvPr/>
        </p:nvSpPr>
        <p:spPr>
          <a:xfrm>
            <a:off x="10314432" y="55046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25328" y="55046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2" name="Shape 40"/>
          <p:cNvSpPr/>
          <p:nvPr/>
        </p:nvSpPr>
        <p:spPr>
          <a:xfrm>
            <a:off x="10936224" y="55046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3" name="Shape 41"/>
          <p:cNvSpPr/>
          <p:nvPr/>
        </p:nvSpPr>
        <p:spPr>
          <a:xfrm>
            <a:off x="11247120" y="5504688"/>
            <a:ext cx="64008" cy="64008"/>
          </a:xfrm>
          <a:prstGeom prst="ellipse">
            <a:avLst/>
          </a:prstGeom>
          <a:solidFill>
            <a:srgbClr val="1B3A4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5" name="Text 43"/>
          <p:cNvSpPr/>
          <p:nvPr/>
        </p:nvSpPr>
        <p:spPr>
          <a:xfrm>
            <a:off x="86868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868680" y="4480560"/>
            <a:ext cx="1965960" cy="603504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/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4636008"/>
            <a:ext cx="292608" cy="292608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417320" y="448056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3063240" y="4480560"/>
            <a:ext cx="1463040" cy="603504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/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4636008"/>
            <a:ext cx="292608" cy="292608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3611880" y="4480560"/>
            <a:ext cx="868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File Storage Modernization</dc:title>
  <dc:subject>PptxGenJS Presentation</dc:subject>
  <dc:creator>Amity University Project</dc:creator>
  <cp:lastModifiedBy>Amity University Project</cp:lastModifiedBy>
  <cp:revision>1</cp:revision>
  <dcterms:created xsi:type="dcterms:W3CDTF">2026-06-27T12:30:08Z</dcterms:created>
  <dcterms:modified xsi:type="dcterms:W3CDTF">2026-06-27T12:30:08Z</dcterms:modified>
</cp:coreProperties>
</file>